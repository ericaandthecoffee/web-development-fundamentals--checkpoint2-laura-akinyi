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y="5143500" cx="9144000"/>
  <p:notesSz cx="6858000" cy="9144000"/>
  <p:embeddedFontLst>
    <p:embeddedFont>
      <p:font typeface="IBM Plex Sans"/>
      <p:regular r:id="rId13"/>
      <p:bold r:id="rId14"/>
      <p:italic r:id="rId15"/>
      <p:boldItalic r:id="rId16"/>
    </p:embeddedFont>
    <p:embeddedFont>
      <p:font typeface="Proxima Nova"/>
      <p:regular r:id="rId17"/>
      <p:bold r:id="rId18"/>
      <p:italic r:id="rId19"/>
      <p:boldItalic r:id="rId20"/>
    </p:embeddedFont>
    <p:embeddedFont>
      <p:font typeface="Proxima Nova Semibold"/>
      <p:regular r:id="rId21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995AC8-5901-456A-BD5A-E03086A39734}">
  <a:tblStyle styleId="{78995AC8-5901-456A-BD5A-E03086A397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Italic.fntdata"/><Relationship Id="rId11" Type="http://schemas.openxmlformats.org/officeDocument/2006/relationships/slide" Target="slides/slide4.xml"/><Relationship Id="rId22" Type="http://schemas.openxmlformats.org/officeDocument/2006/relationships/font" Target="fonts/ProximaNovaSemibold-bold.fntdata"/><Relationship Id="rId10" Type="http://schemas.openxmlformats.org/officeDocument/2006/relationships/slide" Target="slides/slide3.xml"/><Relationship Id="rId21" Type="http://schemas.openxmlformats.org/officeDocument/2006/relationships/font" Target="fonts/ProximaNovaSemibold-regular.fntdata"/><Relationship Id="rId13" Type="http://schemas.openxmlformats.org/officeDocument/2006/relationships/font" Target="fonts/IBMPlexSans-regular.fntdata"/><Relationship Id="rId12" Type="http://schemas.openxmlformats.org/officeDocument/2006/relationships/slide" Target="slides/slide5.xml"/><Relationship Id="rId23" Type="http://schemas.openxmlformats.org/officeDocument/2006/relationships/font" Target="fonts/ProximaNova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font" Target="fonts/IBMPlexSans-italic.fntdata"/><Relationship Id="rId14" Type="http://schemas.openxmlformats.org/officeDocument/2006/relationships/font" Target="fonts/IBMPlexSans-bold.fntdata"/><Relationship Id="rId17" Type="http://schemas.openxmlformats.org/officeDocument/2006/relationships/font" Target="fonts/ProximaNova-regular.fntdata"/><Relationship Id="rId16" Type="http://schemas.openxmlformats.org/officeDocument/2006/relationships/font" Target="fonts/IBMPlexSans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ProximaNova-italic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ProximaNova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742e3e7cd_1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742e3e7c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bab3a369_1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bab3a369_1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742e3e7cd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742e3e7cd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d4400e73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d4400e73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d9c40d9f9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d9c40d9f9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3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ite cloud in front of dark blue star-filled sky" id="104" name="Google Shape;104;p25"/>
          <p:cNvPicPr preferRelativeResize="0"/>
          <p:nvPr/>
        </p:nvPicPr>
        <p:blipFill rotWithShape="1">
          <a:blip r:embed="rId3">
            <a:alphaModFix/>
          </a:blip>
          <a:srcRect b="17067" l="0" r="171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5"/>
          <p:cNvSpPr txBox="1"/>
          <p:nvPr>
            <p:ph type="ctrTitle"/>
          </p:nvPr>
        </p:nvSpPr>
        <p:spPr>
          <a:xfrm>
            <a:off x="510450" y="251825"/>
            <a:ext cx="8123100" cy="259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900"/>
              <a:t>Web Development Fundaments (checkpoint 2)</a:t>
            </a:r>
            <a:endParaRPr sz="5700"/>
          </a:p>
        </p:txBody>
      </p:sp>
      <p:sp>
        <p:nvSpPr>
          <p:cNvPr id="106" name="Google Shape;106;p25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Laura Akinyi</a:t>
            </a:r>
            <a:endParaRPr/>
          </a:p>
        </p:txBody>
      </p:sp>
      <p:sp>
        <p:nvSpPr>
          <p:cNvPr id="107" name="Google Shape;107;p25"/>
          <p:cNvSpPr txBox="1"/>
          <p:nvPr>
            <p:ph idx="1" type="subTitle"/>
          </p:nvPr>
        </p:nvSpPr>
        <p:spPr>
          <a:xfrm>
            <a:off x="510450" y="4370773"/>
            <a:ext cx="81231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08" name="Google Shape;108;p25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How the Web works.</a:t>
            </a:r>
            <a:endParaRPr sz="3600"/>
          </a:p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Through the interaction between the Client and Servers.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Client: Interconnected devices of the web user such as WIFI and mobile network.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Servers: </a:t>
            </a:r>
            <a:r>
              <a:rPr lang="en" sz="2400"/>
              <a:t>Computers</a:t>
            </a:r>
            <a:r>
              <a:rPr lang="en" sz="2400"/>
              <a:t> that store web pages and websites.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title"/>
          </p:nvPr>
        </p:nvSpPr>
        <p:spPr>
          <a:xfrm>
            <a:off x="265500" y="235750"/>
            <a:ext cx="4045200" cy="91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Fundamental components that support</a:t>
            </a:r>
            <a:r>
              <a:rPr b="1" lang="en" sz="2600"/>
              <a:t> </a:t>
            </a:r>
            <a:r>
              <a:rPr b="1" lang="en" sz="2000"/>
              <a:t>client-server interaction</a:t>
            </a:r>
            <a:endParaRPr b="1"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  <p:sp>
        <p:nvSpPr>
          <p:cNvPr id="120" name="Google Shape;120;p27"/>
          <p:cNvSpPr txBox="1"/>
          <p:nvPr>
            <p:ph idx="2" type="body"/>
          </p:nvPr>
        </p:nvSpPr>
        <p:spPr>
          <a:xfrm>
            <a:off x="4939500" y="155375"/>
            <a:ext cx="3837000" cy="7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21" name="Google Shape;121;p27"/>
          <p:cNvSpPr txBox="1"/>
          <p:nvPr/>
        </p:nvSpPr>
        <p:spPr>
          <a:xfrm>
            <a:off x="519700" y="1168000"/>
            <a:ext cx="3600600" cy="3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AutoNum type="arabicPeriod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Internet </a:t>
            </a: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connection.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AutoNum type="arabicPeriod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Transport Control Protocol (TCP).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AutoNum type="arabicPeriod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Hypertext Transfer Protocol (HTTP).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AutoNum type="arabicPeriod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Domain Name System (DNS).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AutoNum type="arabicPeriod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Internet Protocol Address (IP Address).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AutoNum type="arabicPeriod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Host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AutoNum type="arabicPeriod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Port Number 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AutoNum type="arabicPeriod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Uniform Resource Locator. (URL).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4828150" y="975125"/>
            <a:ext cx="4045200" cy="3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23" name="Google Shape;123;p27"/>
          <p:cNvGrpSpPr/>
          <p:nvPr/>
        </p:nvGrpSpPr>
        <p:grpSpPr>
          <a:xfrm>
            <a:off x="4572049" y="-50"/>
            <a:ext cx="4564144" cy="5143356"/>
            <a:chOff x="2068883" y="962536"/>
            <a:chExt cx="5016646" cy="3218420"/>
          </a:xfrm>
        </p:grpSpPr>
        <p:sp>
          <p:nvSpPr>
            <p:cNvPr id="124" name="Google Shape;124;p27"/>
            <p:cNvSpPr/>
            <p:nvPr/>
          </p:nvSpPr>
          <p:spPr>
            <a:xfrm>
              <a:off x="2068883" y="3378460"/>
              <a:ext cx="804600" cy="800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5" name="Google Shape;125;p27"/>
            <p:cNvSpPr/>
            <p:nvPr/>
          </p:nvSpPr>
          <p:spPr>
            <a:xfrm>
              <a:off x="2879229" y="3376355"/>
              <a:ext cx="4206300" cy="804600"/>
            </a:xfrm>
            <a:prstGeom prst="roundRect">
              <a:avLst>
                <a:gd fmla="val 50000" name="adj"/>
              </a:avLst>
            </a:prstGeom>
            <a:solidFill>
              <a:srgbClr val="E8F4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8850" lIns="182875" spcFirstLastPara="1" rIns="182875" wrap="square" tIns="11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Page is rendered to the users.</a:t>
              </a:r>
              <a:endParaRPr sz="1200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6" name="Google Shape;126;p27"/>
            <p:cNvSpPr txBox="1"/>
            <p:nvPr/>
          </p:nvSpPr>
          <p:spPr>
            <a:xfrm>
              <a:off x="2068883" y="3376660"/>
              <a:ext cx="804600" cy="8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IBM Plex Sans"/>
                  <a:ea typeface="IBM Plex Sans"/>
                  <a:cs typeface="IBM Plex Sans"/>
                  <a:sym typeface="IBM Plex Sans"/>
                </a:rPr>
                <a:t>STEP</a:t>
              </a:r>
              <a:endParaRPr sz="1200"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latin typeface="IBM Plex Sans"/>
                  <a:ea typeface="IBM Plex Sans"/>
                  <a:cs typeface="IBM Plex Sans"/>
                  <a:sym typeface="IBM Plex Sans"/>
                </a:rPr>
                <a:t>04</a:t>
              </a:r>
              <a:endParaRPr sz="3300"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7" name="Google Shape;127;p27"/>
            <p:cNvSpPr/>
            <p:nvPr/>
          </p:nvSpPr>
          <p:spPr>
            <a:xfrm>
              <a:off x="2068883" y="2572503"/>
              <a:ext cx="804600" cy="803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8" name="Google Shape;128;p27"/>
            <p:cNvSpPr/>
            <p:nvPr/>
          </p:nvSpPr>
          <p:spPr>
            <a:xfrm>
              <a:off x="2879229" y="2571759"/>
              <a:ext cx="4206300" cy="804600"/>
            </a:xfrm>
            <a:prstGeom prst="roundRect">
              <a:avLst>
                <a:gd fmla="val 50000" name="adj"/>
              </a:avLst>
            </a:prstGeom>
            <a:solidFill>
              <a:srgbClr val="E8F4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8850" lIns="182875" spcFirstLastPara="1" rIns="182875" wrap="square" tIns="11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Browser sends more requests for objects in the HTML file such as images, videos, CSS &amp; Javascript files.</a:t>
              </a:r>
              <a:endParaRPr sz="1200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9" name="Google Shape;129;p27"/>
            <p:cNvSpPr txBox="1"/>
            <p:nvPr/>
          </p:nvSpPr>
          <p:spPr>
            <a:xfrm>
              <a:off x="2068883" y="2572053"/>
              <a:ext cx="804600" cy="8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IBM Plex Sans"/>
                  <a:ea typeface="IBM Plex Sans"/>
                  <a:cs typeface="IBM Plex Sans"/>
                  <a:sym typeface="IBM Plex Sans"/>
                </a:rPr>
                <a:t>STEP</a:t>
              </a:r>
              <a:endParaRPr sz="1200"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latin typeface="IBM Plex Sans"/>
                  <a:ea typeface="IBM Plex Sans"/>
                  <a:cs typeface="IBM Plex Sans"/>
                  <a:sym typeface="IBM Plex Sans"/>
                </a:rPr>
                <a:t>03</a:t>
              </a:r>
              <a:endParaRPr sz="3300"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0" name="Google Shape;130;p27"/>
            <p:cNvSpPr/>
            <p:nvPr/>
          </p:nvSpPr>
          <p:spPr>
            <a:xfrm>
              <a:off x="2068883" y="1767147"/>
              <a:ext cx="804600" cy="804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1" name="Google Shape;131;p27"/>
            <p:cNvSpPr/>
            <p:nvPr/>
          </p:nvSpPr>
          <p:spPr>
            <a:xfrm>
              <a:off x="2879229" y="1767147"/>
              <a:ext cx="4206300" cy="804600"/>
            </a:xfrm>
            <a:prstGeom prst="roundRect">
              <a:avLst>
                <a:gd fmla="val 50000" name="adj"/>
              </a:avLst>
            </a:prstGeom>
            <a:solidFill>
              <a:srgbClr val="E8F4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8850" lIns="182875" spcFirstLastPara="1" rIns="182875" wrap="square" tIns="11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HTML file sent back and browser renders the HTML.</a:t>
              </a:r>
              <a:endParaRPr sz="1200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2" name="Google Shape;132;p27"/>
            <p:cNvSpPr txBox="1"/>
            <p:nvPr/>
          </p:nvSpPr>
          <p:spPr>
            <a:xfrm>
              <a:off x="2068883" y="1767447"/>
              <a:ext cx="804600" cy="8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IBM Plex Sans"/>
                  <a:ea typeface="IBM Plex Sans"/>
                  <a:cs typeface="IBM Plex Sans"/>
                  <a:sym typeface="IBM Plex Sans"/>
                </a:rPr>
                <a:t>STEP</a:t>
              </a:r>
              <a:endParaRPr sz="1200"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300">
                  <a:latin typeface="IBM Plex Sans"/>
                  <a:ea typeface="IBM Plex Sans"/>
                  <a:cs typeface="IBM Plex Sans"/>
                  <a:sym typeface="IBM Plex Sans"/>
                </a:rPr>
                <a:t>02</a:t>
              </a:r>
              <a:endParaRPr sz="3300"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3" name="Google Shape;133;p27"/>
            <p:cNvSpPr/>
            <p:nvPr/>
          </p:nvSpPr>
          <p:spPr>
            <a:xfrm>
              <a:off x="2068883" y="964640"/>
              <a:ext cx="804600" cy="800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34" name="Google Shape;134;p27"/>
            <p:cNvSpPr/>
            <p:nvPr/>
          </p:nvSpPr>
          <p:spPr>
            <a:xfrm>
              <a:off x="2879229" y="962536"/>
              <a:ext cx="4206300" cy="804600"/>
            </a:xfrm>
            <a:prstGeom prst="roundRect">
              <a:avLst>
                <a:gd fmla="val 50000" name="adj"/>
              </a:avLst>
            </a:prstGeom>
            <a:solidFill>
              <a:srgbClr val="E8F4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8850" lIns="182875" spcFirstLastPara="1" rIns="182875" wrap="square" tIns="1188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DNS </a:t>
              </a:r>
              <a:r>
                <a:rPr lang="en" sz="1200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lookup</a:t>
              </a:r>
              <a:r>
                <a:rPr lang="en" sz="1200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and HTTP request sent by browser.</a:t>
              </a:r>
              <a:endParaRPr sz="1200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5" name="Google Shape;135;p27"/>
            <p:cNvSpPr txBox="1"/>
            <p:nvPr/>
          </p:nvSpPr>
          <p:spPr>
            <a:xfrm>
              <a:off x="2068883" y="962840"/>
              <a:ext cx="804600" cy="8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IBM Plex Sans"/>
                  <a:ea typeface="IBM Plex Sans"/>
                  <a:cs typeface="IBM Plex Sans"/>
                  <a:sym typeface="IBM Plex Sans"/>
                </a:rPr>
                <a:t>STEP</a:t>
              </a:r>
              <a:endParaRPr sz="1200"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3300">
                  <a:latin typeface="IBM Plex Sans"/>
                  <a:ea typeface="IBM Plex Sans"/>
                  <a:cs typeface="IBM Plex Sans"/>
                  <a:sym typeface="IBM Plex Sans"/>
                </a:rPr>
                <a:t>01</a:t>
              </a:r>
              <a:endParaRPr sz="3300"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490250" y="526350"/>
            <a:ext cx="8243100" cy="64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What you need to be a web developer.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/>
          </a:p>
        </p:txBody>
      </p:sp>
      <p:graphicFrame>
        <p:nvGraphicFramePr>
          <p:cNvPr id="141" name="Google Shape;141;p28"/>
          <p:cNvGraphicFramePr/>
          <p:nvPr/>
        </p:nvGraphicFramePr>
        <p:xfrm>
          <a:off x="952500" y="142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{78995AC8-5901-456A-BD5A-E03086A39734}</a:tableStyleId>
              </a:tblPr>
              <a:tblGrid>
                <a:gridCol w="3619500"/>
                <a:gridCol w="3619500"/>
              </a:tblGrid>
              <a:tr h="37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TECHNICAL SKILLS</a:t>
                      </a:r>
                      <a:endParaRPr b="1" sz="1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SOFT SKILLS</a:t>
                      </a:r>
                      <a:endParaRPr b="1" sz="1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76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HTML/CSS</a:t>
                      </a:r>
                      <a:endParaRPr sz="1500"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Javascript</a:t>
                      </a:r>
                      <a:endParaRPr sz="1500"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Git</a:t>
                      </a:r>
                      <a:endParaRPr sz="1500"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Front End Coding Skills</a:t>
                      </a:r>
                      <a:endParaRPr sz="1500"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Responsive Web Designing Skills</a:t>
                      </a:r>
                      <a:endParaRPr sz="1500"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UX/UI design </a:t>
                      </a:r>
                      <a:endParaRPr sz="1500"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Back end programming languages and programme </a:t>
                      </a:r>
                      <a:r>
                        <a:rPr lang="en" sz="1500"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frameworks</a:t>
                      </a:r>
                      <a:endParaRPr sz="1500"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Testing and Debugging </a:t>
                      </a:r>
                      <a:endParaRPr sz="1500"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SEO Testing</a:t>
                      </a:r>
                      <a:endParaRPr sz="1500"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Strong communication skills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Time management and organization skills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Adaptability 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Attention to detail and quality assuarance</a:t>
                      </a:r>
                      <a:endParaRPr sz="15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Reasons for wanting to become a web developer</a:t>
            </a:r>
            <a:endParaRPr sz="3300"/>
          </a:p>
        </p:txBody>
      </p:sp>
      <p:sp>
        <p:nvSpPr>
          <p:cNvPr id="147" name="Google Shape;147;p29"/>
          <p:cNvSpPr txBox="1"/>
          <p:nvPr>
            <p:ph idx="1" type="body"/>
          </p:nvPr>
        </p:nvSpPr>
        <p:spPr>
          <a:xfrm>
            <a:off x="311700" y="1601975"/>
            <a:ext cx="8520600" cy="29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Curiosity - </a:t>
            </a:r>
            <a:r>
              <a:rPr lang="en" sz="2400"/>
              <a:t>wanting</a:t>
            </a:r>
            <a:r>
              <a:rPr lang="en" sz="2400"/>
              <a:t> to know how applications and applications work from end to end.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Creativity and Innovation- keen interest in being able to design and maintain functional websites.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Career change and advancement- To move into the tech space from the traditional healthcare setting and find an intersection between the two.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